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3F5E"/>
              </a:solidFill>
              <a:ln w="9525" cap="flat">
                <a:solidFill>
                  <a:srgbClr val="121C3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8243F"/>
              </a:solidFill>
              <a:ln w="9525" cap="flat">
                <a:solidFill>
                  <a:srgbClr val="121C3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Risk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87</c:v>
                </c:pt>
                <c:pt idx="1">
                  <c:v>13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457200"/>
            <a:ext cx="4206240" cy="4206240"/>
          </a:xfrm>
          <a:prstGeom prst="ellipse">
            <a:avLst/>
          </a:prstGeom>
          <a:solidFill>
            <a:srgbClr val="121C31"/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960120"/>
            <a:ext cx="3200400" cy="3200400"/>
          </a:xfrm>
          <a:prstGeom prst="ellipse">
            <a:avLst/>
          </a:prstGeom>
          <a:solidFill>
            <a:srgbClr val="121C31">
              <a:alpha val="8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40680" y="1417320"/>
            <a:ext cx="2286000" cy="2286000"/>
          </a:xfrm>
          <a:prstGeom prst="ellipse">
            <a:avLst/>
          </a:prstGeom>
          <a:solidFill>
            <a:srgbClr val="121C31">
              <a:alpha val="60000"/>
            </a:srgbClr>
          </a:solidFill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1828800"/>
            <a:ext cx="1463040" cy="1463040"/>
          </a:xfrm>
          <a:prstGeom prst="ellipse">
            <a:avLst/>
          </a:prstGeom>
          <a:solidFill>
            <a:srgbClr val="18243F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194560"/>
            <a:ext cx="73152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2743200"/>
            <a:ext cx="685800" cy="685800"/>
          </a:xfrm>
          <a:prstGeom prst="ellipse">
            <a:avLst/>
          </a:prstGeom>
          <a:solidFill>
            <a:srgbClr val="F43F5E"/>
          </a:solidFill>
          <a:ln w="25400">
            <a:solidFill>
              <a:srgbClr val="0B12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8986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THREAT INVESTIGATION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188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XMAIL</a:t>
            </a:r>
            <a:endParaRPr lang="en-US" sz="6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that investigates every email in real time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5204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Samira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148840" y="35204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4884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Nethra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749040" y="35204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74904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Sreya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keeps slipping past standard filters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121C31"/>
          </a:solidFill>
          <a:ln w="15875">
            <a:solidFill>
              <a:srgbClr val="F43F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Issue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spoofing and email-based social engineering bypass standard filters, leading to credential theft and financial fraud.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0" y="164592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121C31"/>
          </a:solidFill>
          <a:ln/>
        </p:spPr>
      </p:sp>
      <p:sp>
        <p:nvSpPr>
          <p:cNvPr id="10" name="Shape 7"/>
          <p:cNvSpPr/>
          <p:nvPr/>
        </p:nvSpPr>
        <p:spPr>
          <a:xfrm>
            <a:off x="4251960" y="178308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7760" y="1691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verify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End-users struggle to read raw headers (SPF, DKIM, DMARC) or spot obfuscated links.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114800" y="260604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121C31"/>
          </a:solidFill>
          <a:ln/>
        </p:spPr>
      </p:sp>
      <p:sp>
        <p:nvSpPr>
          <p:cNvPr id="14" name="Shape 10"/>
          <p:cNvSpPr/>
          <p:nvPr/>
        </p:nvSpPr>
        <p:spPr>
          <a:xfrm>
            <a:off x="4251960" y="274320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8803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37760" y="2651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investigation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forensics is time-consuming for IT and SOC teams.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114800" y="356616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121C31"/>
          </a:solidFill>
          <a:ln/>
        </p:spPr>
      </p:sp>
      <p:sp>
        <p:nvSpPr>
          <p:cNvPr id="18" name="Shape 13"/>
          <p:cNvSpPr/>
          <p:nvPr/>
        </p:nvSpPr>
        <p:spPr>
          <a:xfrm>
            <a:off x="4251960" y="370332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8404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93776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rarely explain the reasoning behind a threat alert.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XMAIL turns any email client into a real-time threat investigation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25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Inspection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body, headers and attachments the moment an email is opened.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640080" cy="64008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5831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377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Scoring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diagnostics + URL intelligence + NLP produce a dynamic 0–100 risk score.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6347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429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why an email is risky so users can decide with confidence.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0" y="1280160"/>
            <a:ext cx="3200400" cy="3291840"/>
          </a:xfrm>
          <a:prstGeom prst="roundRect">
            <a:avLst>
              <a:gd name="adj" fmla="val 4286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5760720" y="1417320"/>
          <a:ext cx="2651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576072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4000" dirty="0"/>
          </a:p>
        </p:txBody>
      </p:sp>
      <p:sp>
        <p:nvSpPr>
          <p:cNvPr id="16" name="Text 10"/>
          <p:cNvSpPr txBox="1"/>
          <p:nvPr/>
        </p:nvSpPr>
        <p:spPr>
          <a:xfrm>
            <a:off x="576072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263640" y="374904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6263640" y="3749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76072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risk verdict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capabilities in one investigation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Forensics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SPF, DKIM, Return-Path and DMARC alignment.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50876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&amp; Domain Intel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typosquatting, redirect risks and bad IP reputation.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50876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459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 Extraction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pulls URLs, domains, IPs and hash values.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832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008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Threat Scoring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risk from SAFE to CRITICAL.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46120" y="30632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324612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832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4290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Verdicts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 evidence behind every threat vector.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35040" y="30632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17920" y="324612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3832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1792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Reports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evidence as structured PDF / JSON reports.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/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fast and explainable tech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21C31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62456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996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801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responsive dashboard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49040" y="1481328"/>
            <a:ext cx="800100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0" y="1481328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58868" y="1481328"/>
            <a:ext cx="644652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8868" y="1481328"/>
            <a:ext cx="644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13248" y="1481328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13248" y="148132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56248" y="14813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56248" y="14813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10312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21C31"/>
          </a:solidFill>
          <a:ln/>
        </p:spPr>
      </p:sp>
      <p:sp>
        <p:nvSpPr>
          <p:cNvPr id="17" name="Shape 14"/>
          <p:cNvSpPr/>
          <p:nvPr/>
        </p:nvSpPr>
        <p:spPr>
          <a:xfrm>
            <a:off x="594360" y="2185416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2257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80160" y="21031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async processing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749040" y="2304288"/>
            <a:ext cx="722376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749040" y="2304288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81144" y="2304288"/>
            <a:ext cx="800100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81144" y="2304288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90972" y="2304288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490972" y="230428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57200" y="29260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21C31"/>
          </a:solidFill>
          <a:ln/>
        </p:spPr>
      </p:sp>
      <p:sp>
        <p:nvSpPr>
          <p:cNvPr id="27" name="Shape 23"/>
          <p:cNvSpPr/>
          <p:nvPr/>
        </p:nvSpPr>
        <p:spPr>
          <a:xfrm>
            <a:off x="594360" y="3008376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45536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280160" y="2926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Security Engines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analysis core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3749040" y="3127248"/>
            <a:ext cx="489204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749040" y="3127248"/>
            <a:ext cx="489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347972" y="3127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347972" y="3127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646420" y="3127248"/>
            <a:ext cx="800100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646420" y="3127248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556248" y="3127248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556248" y="312724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SPF/DKIM/DMARC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457200" y="374904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21C31"/>
          </a:solidFill>
          <a:ln/>
        </p:spPr>
      </p:sp>
      <p:sp>
        <p:nvSpPr>
          <p:cNvPr id="39" name="Shape 34"/>
          <p:cNvSpPr/>
          <p:nvPr/>
        </p:nvSpPr>
        <p:spPr>
          <a:xfrm>
            <a:off x="594360" y="3831336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280160" y="3749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live email webhooks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3749040" y="3950208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749040" y="395020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4892040" y="3950208"/>
            <a:ext cx="722376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4892040" y="3950208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5724144" y="3950208"/>
            <a:ext cx="955548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5724144" y="3950208"/>
            <a:ext cx="9555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6789420" y="3950208"/>
            <a:ext cx="1421892" cy="310896"/>
          </a:xfrm>
          <a:prstGeom prst="roundRect">
            <a:avLst>
              <a:gd name="adj" fmla="val 50000"/>
            </a:avLst>
          </a:prstGeom>
          <a:solidFill>
            <a:srgbClr val="18243F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6789420" y="3950208"/>
            <a:ext cx="14218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Outlook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/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inbox to verdict in five automated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36192" cy="2834640"/>
          </a:xfrm>
          <a:prstGeom prst="roundRect">
            <a:avLst>
              <a:gd name="adj" fmla="val 7143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91640"/>
            <a:ext cx="914400" cy="91440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2024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55448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43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Ingestion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54680"/>
            <a:ext cx="1316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Outlook API or .EML / .MSG upload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2743200"/>
            <a:ext cx="128016" cy="1280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30552" y="1463040"/>
            <a:ext cx="1536192" cy="2834640"/>
          </a:xfrm>
          <a:prstGeom prst="roundRect">
            <a:avLst>
              <a:gd name="adj" fmla="val 7143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41448" y="1691640"/>
            <a:ext cx="914400" cy="91440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1920240"/>
            <a:ext cx="457200" cy="457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176272" y="155448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217627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2221992" y="2743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Parsing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40280" y="3154680"/>
            <a:ext cx="1316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inspection + IOC extraction (URLs, IPs, domains)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743200"/>
            <a:ext cx="128016" cy="1280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03904" y="1463040"/>
            <a:ext cx="1536192" cy="2834640"/>
          </a:xfrm>
          <a:prstGeom prst="roundRect">
            <a:avLst>
              <a:gd name="adj" fmla="val 7143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114800" y="1691640"/>
            <a:ext cx="914400" cy="91440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920240"/>
            <a:ext cx="457200" cy="4572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849624" y="155448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3849624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3895344" y="2743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 Engine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3913632" y="3154680"/>
            <a:ext cx="1316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NLP analysis + risk evaluation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743200"/>
            <a:ext cx="128016" cy="12801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477256" y="1463040"/>
            <a:ext cx="1536192" cy="2834640"/>
          </a:xfrm>
          <a:prstGeom prst="roundRect">
            <a:avLst>
              <a:gd name="adj" fmla="val 7143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788152" y="1691640"/>
            <a:ext cx="914400" cy="91440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F43F5E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1920240"/>
            <a:ext cx="457200" cy="45720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522976" y="1554480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5522976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5568696" y="2743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Verdict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5586984" y="3154680"/>
            <a:ext cx="1316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SUSPICIOUS / CRITICAL + plain-language rationale</a:t>
            </a:r>
            <a:endParaRPr lang="en-US" sz="11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592" y="2743200"/>
            <a:ext cx="128016" cy="128016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150608" y="1463040"/>
            <a:ext cx="1536192" cy="2834640"/>
          </a:xfrm>
          <a:prstGeom prst="roundRect">
            <a:avLst>
              <a:gd name="adj" fmla="val 7143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461504" y="1691640"/>
            <a:ext cx="914400" cy="91440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0104" y="1920240"/>
            <a:ext cx="457200" cy="45720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7196328" y="155448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0" name="Text 29"/>
          <p:cNvSpPr txBox="1"/>
          <p:nvPr/>
        </p:nvSpPr>
        <p:spPr>
          <a:xfrm>
            <a:off x="7196328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7242048" y="274320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Output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7260336" y="3154680"/>
            <a:ext cx="1316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advice + automated forensic report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Existing Solutions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XMAIL compares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210312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Filters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SOC 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XMAIL (Ours)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Diagnostics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Pass/Fail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Analyst 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Multi-Point Deep 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filtering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technical logs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AI for end-users &amp; analysts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 Extraction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manual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Instant, Automated Extraction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/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Expensive / Complex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API-Driven &amp; Accessible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IMPACT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21C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detection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Drastically reduces mean-time-to-detect (MTTD) for email phishing.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9718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21C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3154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users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users from credential theft and financial loss.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89120" y="137160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1554480"/>
            <a:ext cx="594360" cy="59436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870" y="17030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57800" y="13716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Sandboxing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container execution for suspicious attachments.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389120" y="2450592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26280" y="2633472"/>
            <a:ext cx="594360" cy="59436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2782062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57800" y="245059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SIEM Integration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forwarding to Splunk, Microsoft Sentinel and Elastic.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89120" y="3529584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121C31"/>
          </a:solidFill>
          <a:ln w="12700">
            <a:solidFill>
              <a:srgbClr val="18243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26280" y="3712464"/>
            <a:ext cx="594360" cy="594360"/>
          </a:xfrm>
          <a:prstGeom prst="ellipse">
            <a:avLst/>
          </a:prstGeom>
          <a:solidFill>
            <a:srgbClr val="18243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3861054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3529584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overlay for real-time inbox protection on webmail.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182880"/>
            <a:ext cx="3108960" cy="3108960"/>
          </a:xfrm>
          <a:prstGeom prst="ellipse">
            <a:avLst/>
          </a:prstGeom>
          <a:solidFill>
            <a:srgbClr val="121C31"/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0" y="548640"/>
            <a:ext cx="2377440" cy="2377440"/>
          </a:xfrm>
          <a:prstGeom prst="ellipse">
            <a:avLst/>
          </a:prstGeom>
          <a:solidFill>
            <a:srgbClr val="121C31">
              <a:alpha val="8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822960"/>
            <a:ext cx="1828800" cy="1828800"/>
          </a:xfrm>
          <a:prstGeom prst="ellipse">
            <a:avLst/>
          </a:prstGeom>
          <a:solidFill>
            <a:srgbClr val="121C31">
              <a:alpha val="60000"/>
            </a:srgbClr>
          </a:solidFill>
          <a:ln w="9525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097280"/>
            <a:ext cx="1280160" cy="1280160"/>
          </a:xfrm>
          <a:prstGeom prst="ellipse">
            <a:avLst/>
          </a:prstGeom>
          <a:solidFill>
            <a:srgbClr val="18243F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417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XMAIL  |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XMAIL Email Presentation</dc:title>
  <dc:subject>PptxGenJS Presentation</dc:subject>
  <dc:creator>PptxGenJS</dc:creator>
  <cp:lastModifiedBy>PptxGenJS</cp:lastModifiedBy>
  <cp:revision>1</cp:revision>
  <dcterms:created xsi:type="dcterms:W3CDTF">2026-09-30T04:42:26Z</dcterms:created>
  <dcterms:modified xsi:type="dcterms:W3CDTF">2026-09-30T04:42:26Z</dcterms:modified>
</cp:coreProperties>
</file>